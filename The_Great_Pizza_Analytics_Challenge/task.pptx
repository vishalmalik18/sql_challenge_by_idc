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DA6E-31C9-264C-214E-2DC83616E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45158-4DDD-0262-CA48-CD8531252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E4386-1228-801D-0090-42F1362B2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2E3B-26C5-410B-91D0-F3F3FDCB346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732F3-66C9-773C-7F1B-FC720C949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076E4-9CB4-E0D2-F3D7-9F21EA97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8F55D-1BEB-410E-A2C8-DA47C39B6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557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29C15-6938-7503-6C00-5876A6A6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10E13-2F8C-706C-8184-9335EACB8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EF5AE-FC91-CB4F-E7FC-897A3F69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2E3B-26C5-410B-91D0-F3F3FDCB346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2018C-6D38-A562-487B-CC5A94D7E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10A94-48BF-D179-DFD6-178DBE49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8F55D-1BEB-410E-A2C8-DA47C39B6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207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F9C4-9072-2D8C-024F-A56A2A884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3E3A8-5C49-BCA2-40E3-5F4CDF54E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50C4C-8374-C243-4A10-B0DDFAC24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2E3B-26C5-410B-91D0-F3F3FDCB346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FE17D-70B2-48A5-086A-1FAFB73E9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765BD-59B5-9AFF-AB1D-887B882C1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8F55D-1BEB-410E-A2C8-DA47C39B6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875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F637-4207-153B-39D1-39D1CA4A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53586-26D0-DFFE-2DE3-D41CF9047A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C781D-3C61-4E15-6806-4CEADB1AC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DC17F-5C12-B58C-9D67-0E61F815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2E3B-26C5-410B-91D0-F3F3FDCB346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64417-5CF5-C7C1-954B-8EF9FB56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F70AD-771C-81FE-52DF-B8A5C7CF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8F55D-1BEB-410E-A2C8-DA47C39B6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815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2265F-5834-0008-ACED-BC33422E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8F1BA-9BA6-4B21-39A7-E057CA524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984DD-8BD8-01B9-B82F-62F325CD5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986A0-B117-5A9F-51D8-BAF75DA7B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7C730-AF3C-A17D-2DB1-D8DCC8448A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F497AA-2870-852F-D8C0-CE523C721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2E3B-26C5-410B-91D0-F3F3FDCB346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0950F3-F96B-EC44-B784-A9288326D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43693C-4971-7B3E-CC0F-535D071B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8F55D-1BEB-410E-A2C8-DA47C39B6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32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7724-9861-D6FE-21A0-935C01424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960F5-8FEB-8D1F-26BD-093346DB8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2E3B-26C5-410B-91D0-F3F3FDCB346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B2032-96CD-AB1C-33C5-466B5BAC9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9A940-F7E8-C30E-730C-1A2EA000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8F55D-1BEB-410E-A2C8-DA47C39B6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160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740F8-5CEE-0690-1A87-975B61E22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2E3B-26C5-410B-91D0-F3F3FDCB346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C7204F-71C8-D912-5D9F-A0D93FBE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013C4-16C7-6269-7269-03A2E3B4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8F55D-1BEB-410E-A2C8-DA47C39B6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35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87B2-AC27-0653-FA46-E6A3B1502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8AA34-2C1F-3F9D-467F-378B51D54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E2459-E756-0D81-35C7-EC97B1D4C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F0FE4-F786-7053-E115-0D9F84468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2E3B-26C5-410B-91D0-F3F3FDCB346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BF848-2444-C59E-F4EC-9B81AFF3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D66AB-5CA4-A0C1-E505-20EE0E09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8F55D-1BEB-410E-A2C8-DA47C39B6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700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110D8-CA27-B9EA-CC71-5D594BAA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18992-574A-76F2-FF39-9957F6D33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C9F5F-5948-10D4-17BA-21399F492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FD836-9323-BC3D-D8E8-0416AF58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2E3B-26C5-410B-91D0-F3F3FDCB346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AC358-FA2A-9B63-012C-0AE11089D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0B034-63D8-6258-44DF-74A8E94F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8F55D-1BEB-410E-A2C8-DA47C39B6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388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D706-B2FB-54D6-0D29-726CADBEF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BC5DE3-41DD-694B-D909-3A411E1D3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1D6DD-F9D7-F21F-1AAD-C629F166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2E3B-26C5-410B-91D0-F3F3FDCB346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8A0EF-6CBE-4E1B-1D41-43106E269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7DE35-F642-5A20-B300-6DC1A716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8F55D-1BEB-410E-A2C8-DA47C39B6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421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DA1ED0-C57A-FCE1-4726-075C591AB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EB798-4A1D-9C19-CB5F-1D641FCF0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CA840-881B-C22D-F538-A989C285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52E3B-26C5-410B-91D0-F3F3FDCB346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3E925-B51A-E03F-401F-C8AAB719B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C7697-FBAD-41B9-4C2E-4A1A80C1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8F55D-1BEB-410E-A2C8-DA47C39B6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654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CFC352-46CD-5324-E740-9BA7F6AD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C1783-DF28-429E-38CE-05E50EB1E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49B69-40B8-3845-B2BB-E984DA504A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152E3B-26C5-410B-91D0-F3F3FDCB346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FA654-E490-A9AF-C6A2-B93DE8270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2F5C1-F6DE-95F5-99CF-7259E7878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8F55D-1BEB-410E-A2C8-DA47C39B65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064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2B75C-99DA-FD49-6573-C0D04A2B1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FC033-E7E6-9232-CF3B-64A1306D5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2000">
                <a:solidFill>
                  <a:schemeClr val="tx2"/>
                </a:solidFill>
              </a:rPr>
              <a:t>The-Great-Pizza-Analytics-Challenge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8500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6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9EE68-C241-3EE7-9F8D-A8F49EC7A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0" y="885148"/>
            <a:ext cx="9032240" cy="5087704"/>
          </a:xfrm>
        </p:spPr>
        <p:txBody>
          <a:bodyPr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# List all unique pizza categories (DISTINCT).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select distinct(category) from pizza_types;</a:t>
            </a:r>
          </a:p>
          <a:p>
            <a:pPr marL="0" indent="0">
              <a:buNone/>
            </a:pPr>
            <a:endParaRPr lang="en-IN" sz="5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# Display pizza_type_id, name, and ingredients,replacing NULL ingredients with "Missing Data". Show first 5 rows.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select pizza_type_id,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              name,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              coalesce(ingredients,"Missing Data") as ingredients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              from pizza_types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              limit 5;</a:t>
            </a:r>
          </a:p>
          <a:p>
            <a:pPr marL="0" indent="0">
              <a:buNone/>
            </a:pPr>
            <a:endParaRPr lang="en-IN" sz="5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5600" dirty="0">
                <a:solidFill>
                  <a:schemeClr val="tx2"/>
                </a:solidFill>
              </a:rPr>
              <a:t># Check for pizzas missing a price (IS NULL).</a:t>
            </a:r>
          </a:p>
          <a:p>
            <a:pPr marL="0" indent="0">
              <a:buNone/>
            </a:pPr>
            <a:r>
              <a:rPr lang="en-US" sz="5600" dirty="0">
                <a:solidFill>
                  <a:schemeClr val="tx2"/>
                </a:solidFill>
              </a:rPr>
              <a:t>select*from pizzas </a:t>
            </a:r>
          </a:p>
          <a:p>
            <a:pPr marL="0" indent="0">
              <a:buNone/>
            </a:pPr>
            <a:r>
              <a:rPr lang="en-US" sz="5600" dirty="0">
                <a:solidFill>
                  <a:schemeClr val="tx2"/>
                </a:solidFill>
              </a:rPr>
              <a:t>where price is null;</a:t>
            </a:r>
          </a:p>
          <a:p>
            <a:pPr marL="0" indent="0">
              <a:buNone/>
            </a:pPr>
            <a:endParaRPr lang="en-US" sz="5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5600" dirty="0">
                <a:solidFill>
                  <a:schemeClr val="tx2"/>
                </a:solidFill>
              </a:rPr>
              <a:t># Orders placed on '2015-01-01’ (SELECT + WHERE).</a:t>
            </a:r>
          </a:p>
          <a:p>
            <a:pPr marL="0" indent="0">
              <a:buNone/>
            </a:pPr>
            <a:r>
              <a:rPr lang="en-US" sz="5600" dirty="0">
                <a:solidFill>
                  <a:schemeClr val="tx2"/>
                </a:solidFill>
              </a:rPr>
              <a:t>select*from orders</a:t>
            </a:r>
          </a:p>
          <a:p>
            <a:pPr marL="0" indent="0">
              <a:buNone/>
            </a:pPr>
            <a:r>
              <a:rPr lang="en-US" sz="5600" dirty="0">
                <a:solidFill>
                  <a:schemeClr val="tx2"/>
                </a:solidFill>
              </a:rPr>
              <a:t>where date='2015-01-15’;</a:t>
            </a:r>
          </a:p>
          <a:p>
            <a:pPr marL="0" indent="0">
              <a:buNone/>
            </a:pPr>
            <a:endParaRPr lang="en-US" sz="5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500" dirty="0">
              <a:solidFill>
                <a:schemeClr val="tx2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3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18832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9BA09-5894-FF31-9823-A534ED54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754C8-452A-6F8D-7028-AB5D2B8F6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386" y="232419"/>
            <a:ext cx="6022468" cy="6210282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# List pizzas with price descending.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select pt.name,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       p.price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from pizzas as p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left join pizza_types as pt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on p.pizza_type_id = pt.pizza_type_idorder by p.price desc;</a:t>
            </a:r>
          </a:p>
          <a:p>
            <a:pPr marL="0" indent="0"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# Pizzas sold in sizes 'L' or 'XL’.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select p.pizza_type_id,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       p.size,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              pt.name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from pizzas as p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left join pizza_types as pt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on p.pizza_type_id = pt.pizza_type_id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where p.size in('L','XL’);</a:t>
            </a:r>
          </a:p>
          <a:p>
            <a:pPr marL="0" indent="0">
              <a:buNone/>
            </a:pPr>
            <a:endParaRPr lang="en-IN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# Pizzas with "Chicken" in the name.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select name from pizza_types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where name like  "%Chicken%";</a:t>
            </a:r>
            <a:endParaRPr lang="en-IN" sz="14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58347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2E2D61-3BEB-D733-12EE-87B873EBE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9A0A3-A407-F3A2-1693-88C223E6C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252" y="490136"/>
            <a:ext cx="5709721" cy="3126824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# Orders on '2015-02-15' or placed after 8 PM.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select*from orders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where date="2015-02-15" or  time&gt;"8:00:00";</a:t>
            </a:r>
          </a:p>
          <a:p>
            <a:pPr marL="0" indent="0"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# Total quantity of pizzas sold (SUM).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select sum(quantity) as total_quantity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from order_details;</a:t>
            </a:r>
          </a:p>
          <a:p>
            <a:pPr marL="0" indent="0"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# Average pizza price (AVG).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select round((price),2) from pizzas as p;</a:t>
            </a:r>
          </a:p>
          <a:p>
            <a:pPr marL="0" indent="0"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1400" dirty="0">
                <a:solidFill>
                  <a:schemeClr val="tx2"/>
                </a:solidFill>
              </a:rPr>
              <a:t># Total order value per order (JOIN, SUM, GROUP BY).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tx2"/>
                </a:solidFill>
              </a:rPr>
              <a:t>select od.order_id,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tx2"/>
                </a:solidFill>
              </a:rPr>
              <a:t>             round(sum(od.quantity*p.price),2) as total_value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tx2"/>
                </a:solidFill>
              </a:rPr>
              <a:t>from order_details as od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tx2"/>
                </a:solidFill>
              </a:rPr>
              <a:t>left join pizzas as p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tx2"/>
                </a:solidFill>
              </a:rPr>
              <a:t>on od.pizza_id = p.pizza_id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tx2"/>
                </a:solidFill>
              </a:rPr>
              <a:t>group by od.order_id;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3664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67088-DEF9-872D-6962-6A45BDFE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DD560-EF96-C0F3-EB50-B3CFC6C37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865" y="317416"/>
            <a:ext cx="5709721" cy="5595704"/>
          </a:xfrm>
        </p:spPr>
        <p:txBody>
          <a:bodyPr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# Total quantity sold per pizza category (JOIN, GROUP BY).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select pt.category, 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              sum(od.quantity) as total_quantity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from order_details as od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left join pizzas as p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on od.pizza_id = p.pizza_id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left join pizza_types as pt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on p.pizza_type_id = pt.pizza_type_id 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group by pt.category;</a:t>
            </a:r>
          </a:p>
          <a:p>
            <a:pPr marL="0" indent="0">
              <a:buNone/>
            </a:pPr>
            <a:endParaRPr lang="en-IN" sz="5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# Categories with more than 5,000 pizzas sold (HAVING).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select pt.category,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              sum(od.quantity) as total_quantity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from order_details as od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left join pizzas as p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on od.pizza_id = p.pizza_id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left join pizza_types as pt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on p.pizza_type_id = pt.pizza_type_id 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group by pt.category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having total_quantity&gt;5000;</a:t>
            </a:r>
          </a:p>
          <a:p>
            <a:pPr marL="0" indent="0">
              <a:buNone/>
            </a:pPr>
            <a:endParaRPr lang="en-IN" sz="5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IN" sz="5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IN" sz="5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43064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728EB-C5E7-7B59-6BD3-5B69382DB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682A4-15CA-A2BF-B1EB-C80C69F73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865" y="246918"/>
            <a:ext cx="5888255" cy="6265642"/>
          </a:xfrm>
        </p:spPr>
        <p:txBody>
          <a:bodyPr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# Pizzas never ordered (LEFT/RIGHT JOIN).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select p.pizza_id,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              p.pizza_type_id ,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              p.size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from pizzas as p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left join order_details as od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on p.pizza_id = od.pizza_id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where od.order_id is null;</a:t>
            </a:r>
          </a:p>
          <a:p>
            <a:pPr marL="0" indent="0">
              <a:buNone/>
            </a:pPr>
            <a:endParaRPr lang="en-IN" sz="5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# Price differences between different sizes of the same pizza (SELF JOIN).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select p1.pizza_type_id, 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              p1.size AS size_1, 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              p2.size AS size_2, 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              p1.price AS price_1,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              p2.price AS price_2, 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              abs(p1.price - p2.price) as price_difference 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from pizzas as  p1 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left join pizzas p2 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on p1.pizza_type_id = p2.pizza_type_id </a:t>
            </a:r>
          </a:p>
          <a:p>
            <a:pPr marL="0" indent="0">
              <a:buNone/>
            </a:pPr>
            <a:r>
              <a:rPr lang="en-IN" sz="5600" dirty="0">
                <a:solidFill>
                  <a:schemeClr val="tx2"/>
                </a:solidFill>
              </a:rPr>
              <a:t>where p1.price &lt; p2.price;</a:t>
            </a:r>
          </a:p>
          <a:p>
            <a:pPr marL="0" indent="0">
              <a:buNone/>
            </a:pPr>
            <a:endParaRPr lang="en-IN" sz="5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5920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A8647-6C6C-1C8B-321E-9162FAE31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CC94F-D987-8ABD-9A52-B85E413C8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0412" y="2979336"/>
            <a:ext cx="5709721" cy="24308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T</a:t>
            </a:r>
            <a:r>
              <a:rPr lang="en-IN" sz="2400" dirty="0">
                <a:solidFill>
                  <a:schemeClr val="tx2"/>
                </a:solidFill>
              </a:rPr>
              <a:t>hank you</a:t>
            </a:r>
            <a:endParaRPr lang="en-US" sz="24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76695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727</Words>
  <Application>Microsoft Office PowerPoint</Application>
  <PresentationFormat>Widescreen</PresentationFormat>
  <Paragraphs>97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Sumen Mallick</dc:creator>
  <cp:lastModifiedBy>Sumen Mallick</cp:lastModifiedBy>
  <cp:revision>9</cp:revision>
  <dcterms:created xsi:type="dcterms:W3CDTF">2025-11-20T13:12:32Z</dcterms:created>
  <dcterms:modified xsi:type="dcterms:W3CDTF">2025-11-20T15:30:37Z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2025-11-20T14:35:27Z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ef9d5458-6ce5-4bb1-9bcd-bbd6d4513acb</vt:lpwstr>
  </property>
  <property fmtid="{D5CDD505-2E9C-101B-9397-08002B2CF9AE}" pid="7" name="MSIP_Label_defa4170-0d19-0005-0004-bc88714345d2_ActionId">
    <vt:lpwstr>0c740fa3-5a5c-4237-83da-0a3b0cbb25f4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